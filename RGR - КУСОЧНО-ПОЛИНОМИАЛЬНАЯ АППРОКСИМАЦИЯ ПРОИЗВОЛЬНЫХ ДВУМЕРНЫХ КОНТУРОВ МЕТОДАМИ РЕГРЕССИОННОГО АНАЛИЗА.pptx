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60" r:id="rId1"/>
  </p:sldMasterIdLst>
  <p:notesMasterIdLst>
    <p:notesMasterId r:id="rId18"/>
  </p:notesMasterIdLst>
  <p:sldIdLst>
    <p:sldId id="262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909"/>
    <a:srgbClr val="D60808"/>
    <a:srgbClr val="921F00"/>
    <a:srgbClr val="701800"/>
    <a:srgbClr val="0E964F"/>
    <a:srgbClr val="4D0397"/>
    <a:srgbClr val="5603A9"/>
    <a:srgbClr val="6F04DA"/>
    <a:srgbClr val="00A4DE"/>
    <a:srgbClr val="0092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41" autoAdjust="0"/>
    <p:restoredTop sz="96247" autoAdjust="0"/>
  </p:normalViewPr>
  <p:slideViewPr>
    <p:cSldViewPr snapToGrid="0">
      <p:cViewPr varScale="1">
        <p:scale>
          <a:sx n="72" d="100"/>
          <a:sy n="72" d="100"/>
        </p:scale>
        <p:origin x="10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9BC29-BF05-465C-9E80-2D4E96EC7047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C19FE-C6DB-4C53-9785-767E118B7E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46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659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043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618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050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735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8648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927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025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269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498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961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957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868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581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2984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C19FE-C6DB-4C53-9785-767E118B7EC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518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"/>
          <a:stretch/>
        </p:blipFill>
        <p:spPr>
          <a:xfrm>
            <a:off x="0" y="0"/>
            <a:ext cx="12133074" cy="68580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142" y="131316"/>
            <a:ext cx="2847291" cy="1894467"/>
          </a:xfrm>
          <a:prstGeom prst="rect">
            <a:avLst/>
          </a:prstGeom>
        </p:spPr>
      </p:pic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237993"/>
              </p:ext>
            </p:extLst>
          </p:nvPr>
        </p:nvGraphicFramePr>
        <p:xfrm>
          <a:off x="10103850" y="440003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5" imgW="3084412" imgH="1354813" progId="CorelDraw.Graphic.22">
                  <p:embed/>
                </p:oleObj>
              </mc:Choice>
              <mc:Fallback>
                <p:oleObj name="CorelDRAW" r:id="rId5" imgW="3084412" imgH="1354813" progId="CorelDraw.Graphic.22">
                  <p:embed/>
                  <p:pic>
                    <p:nvPicPr>
                      <p:cNvPr id="5" name="Объект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03850" y="440003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>
          <a:xfrm>
            <a:off x="3440414" y="2411236"/>
            <a:ext cx="8005353" cy="203065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32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КУСОЧНО-ПОЛИНОМИАЛЬНАЯ АППРОКСИМАЦИЯ ПРОИЗВОЛЬНЫХ ДВУМЕРНЫХ КОНТУРОВ МЕТОДАМИ РЕГРЕССИОННОГО АНАЛИЗА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440414" y="5711021"/>
            <a:ext cx="351256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Преподаватель: Кашин И.В.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Студент: Черняков М.С.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Группа: ФТ–420008</a:t>
            </a:r>
          </a:p>
        </p:txBody>
      </p:sp>
    </p:spTree>
    <p:extLst>
      <p:ext uri="{BB962C8B-B14F-4D97-AF65-F5344CB8AC3E}">
        <p14:creationId xmlns:p14="http://schemas.microsoft.com/office/powerpoint/2010/main" val="398631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ПОСТАНОВКА ЗАДАЧИ</a:t>
            </a:r>
            <a:endParaRPr lang="ru-RU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/>
              <p:nvPr/>
            </p:nvSpPr>
            <p:spPr>
              <a:xfrm>
                <a:off x="653794" y="977967"/>
                <a:ext cx="10918789" cy="5031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Цель работы: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необходимо разработать алгоритм кусочно-полиномиальной аппроксимации, который в автоматическом режиме разбивает исходный контур на заданное число сегментов N и для каждого сегмента подбирает параметры описывающей его кривой.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Объектом исследования в данной работе является замкнутый двумерный контур, заданный упорядоченным массивом точек </a:t>
                </a:r>
                <a14:m>
                  <m:oMath xmlns:m="http://schemas.openxmlformats.org/officeDocument/2006/math"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..., </m:t>
                        </m:r>
                        <m:d>
                          <m:d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Постановка задачи: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 качестве базовых кривых выбраны параболы. В общем случае семейство параболических кривых на плоскости может быть задано уравнениями вида </a:t>
                </a:r>
                <a:endParaRPr lang="ru-RU" sz="1800" i="1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𝐵𝑥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или 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Задача рассматривается как задача регрессионного анализа. Оптимальным считается такое разбиение и такие параметры парабол, при которых сумма квадратов кратчайших расстояний от точек исходного контура до построенных кривых (геометрическая ошибка) минимальна.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4" y="977967"/>
                <a:ext cx="10918789" cy="5031057"/>
              </a:xfrm>
              <a:prstGeom prst="rect">
                <a:avLst/>
              </a:prstGeom>
              <a:blipFill>
                <a:blip r:embed="rId6"/>
                <a:stretch>
                  <a:fillRect l="-447" r="-503" b="-7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97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</a:t>
            </a:r>
            <a:r>
              <a:rPr lang="ru-RU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ИСХОДНЫХ ДАННЫХ</a:t>
            </a:r>
            <a:endParaRPr lang="ru-RU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/>
              <p:nvPr/>
            </p:nvSpPr>
            <p:spPr>
              <a:xfrm>
                <a:off x="653794" y="977967"/>
                <a:ext cx="10918789" cy="5006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Математически замкнутый двумерный контур представляется в виде дискретного упорядоченного множества из M точек (адаптивный параметр):</a:t>
                </a: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ctr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d>
                          <m:dPr>
                            <m:begChr m:val="{"/>
                            <m:endChr m:val="}"/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e>
                        </m:d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endParaRPr lang="ru-RU" sz="18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Порядок индексов строго соответствует последовательному обходу периметра фигуры. Поскольку контур является замкнутым, логически подразумевается эквивалентность первой и последней точек:</a:t>
                </a: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ctr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≡ 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4" y="977967"/>
                <a:ext cx="10918789" cy="5006820"/>
              </a:xfrm>
              <a:prstGeom prst="rect">
                <a:avLst/>
              </a:prstGeom>
              <a:blipFill>
                <a:blip r:embed="rId6"/>
                <a:stretch>
                  <a:fillRect l="-447" r="-5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0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ГЕНЕРАЦИЯ ИСХОДНЫХ ДАННЫХ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/>
              <p:nvPr/>
            </p:nvSpPr>
            <p:spPr>
              <a:xfrm>
                <a:off x="653794" y="977967"/>
                <a:ext cx="10918789" cy="5368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Генерация тестовых наборов данных осуществляется преимущественно в полярной системе координат. В качестве независимого параметра выступает угол t, равномерно дискретизированный на интервале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[0, 2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).</m:t>
                    </m:r>
                  </m:oMath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Для формирования сложных, нерегулярных форм (имитация силуэтов естественных объектов) применяется генерация радиус-вектора на основе усеченного ряда Фурье со случайными амплитудами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и фазами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 = 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𝑘𝑡</m:t>
                              </m:r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endParaRPr lang="ru-RU" sz="18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– базовый радиус фигуры, а K – максимальная частота гармоник, определяющая степень изрезанности контура. Дополнительное ограничение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𝑚𝑖𝑛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)) &gt; 0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гарантирует отсутствие самопересечений фигуры и прохождений границы через полюс.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4" y="977967"/>
                <a:ext cx="10918789" cy="5368393"/>
              </a:xfrm>
              <a:prstGeom prst="rect">
                <a:avLst/>
              </a:prstGeom>
              <a:blipFill>
                <a:blip r:embed="rId6"/>
                <a:stretch>
                  <a:fillRect l="-447" r="-503" b="-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840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ИСХОДНЫХ ДАННЫХ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/>
              <p:nvPr/>
            </p:nvSpPr>
            <p:spPr>
              <a:xfrm>
                <a:off x="653794" y="977967"/>
                <a:ext cx="10918789" cy="5331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Переход к декартовым координатам для формирования массива P выполняется по классическим формулам преобразования: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𝑟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𝑟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endParaRPr lang="ru-RU" sz="18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На этапе первичной предобработки сгенерированное облако точек нормализуется в пространстве. Фигура центрируется относительно своего центра масс. Для этого вычисляются математические ожидания координат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после чего ко всем точкам множества применяется операция параллельного переноса: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:=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:=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 </m:t>
                      </m:r>
                      <m:acc>
                        <m:accPr>
                          <m:chr m:val="̅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:endParaRPr lang="ru-RU" sz="18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4" y="977967"/>
                <a:ext cx="10918789" cy="5331203"/>
              </a:xfrm>
              <a:prstGeom prst="rect">
                <a:avLst/>
              </a:prstGeom>
              <a:blipFill>
                <a:blip r:embed="rId6"/>
                <a:stretch>
                  <a:fillRect l="-447" r="-5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7279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21090"/>
            <a:ext cx="10918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ИТЕРАТИВНАЯ СЕГМЕНТАЦИЯ И </a:t>
            </a:r>
            <a:br>
              <a:rPr lang="ru-RU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АЛГЕБРАИЧЕСКАЯ РЕГРЕССИЯ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/>
              <p:nvPr/>
            </p:nvSpPr>
            <p:spPr>
              <a:xfrm>
                <a:off x="653794" y="977967"/>
                <a:ext cx="10918789" cy="6006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Шаг 1. Инициализация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Массив точек контура равномерно делится на N последовательных сегментов. Каждому сегменту назначается свой идентификатор от 1 до N.</a:t>
                </a: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b="1" kern="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Шаг 2. Определение локальной системы координат</a:t>
                </a:r>
                <a:r>
                  <a:rPr lang="ru-RU" sz="1800" kern="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. Стандартная функция </a:t>
                </a:r>
                <a14:m>
                  <m:oMath xmlns:m="http://schemas.openxmlformats.org/officeDocument/2006/math">
                    <m:r>
                      <a:rPr lang="ru-RU" sz="1800" i="1" ker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1800" i="1" ker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ru-RU" sz="1800" i="1" ker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 ker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1800" i="1" ker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i="1" ker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ru-RU" sz="1800" i="1" ker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𝐵𝑥</m:t>
                    </m:r>
                    <m:r>
                      <a:rPr lang="ru-RU" sz="1800" i="1" ker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ru-RU" sz="1800" i="1" ker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ru-RU" sz="1800" kern="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не способна описать параболу, ось симметрии которой повернута на произвольный угол. Поэтому для каждого сегмента определяется собственная локальная система координат (u, v) с помощью метода главных компонент PCA. </a:t>
                </a:r>
                <a:r>
                  <a:rPr lang="ru-RU" kern="0" dirty="0">
                    <a:latin typeface="Times New Roman" panose="02020603050405020304" pitchFamily="18" charset="0"/>
                    <a:ea typeface="Aptos" panose="020B0004020202020204" pitchFamily="34" charset="0"/>
                  </a:rPr>
                  <a:t>Математически задача сводится к поиску направления наибольшей дисперсии пространственного распределения точек.</a:t>
                </a: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Вычисляется ковариационная матрица координат точек сегмента. Затем путем разложения находятся ее собственные векторы и собственные значения. Собственный вектор, соответствующий наибольшему собственному значению, задает направление главной оси сегмента (угол поворота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). Точки сегмента центрируются путем вычитания математического ожидания (</a:t>
                </a:r>
                <a:r>
                  <a:rPr lang="ru-RU" sz="18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cx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sz="18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cy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 и проецируются на новые оси: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−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𝑐𝑥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−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𝑐𝑦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𝛼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−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−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𝑐𝑥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− 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𝑐𝑦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𝛼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4" y="977967"/>
                <a:ext cx="10918789" cy="6006773"/>
              </a:xfrm>
              <a:prstGeom prst="rect">
                <a:avLst/>
              </a:prstGeom>
              <a:blipFill>
                <a:blip r:embed="rId6"/>
                <a:stretch>
                  <a:fillRect l="-447" r="-5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211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24038"/>
            <a:ext cx="10918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ИТЕРАТИВНАЯ СЕГМЕНТАЦИЯ И </a:t>
            </a:r>
            <a:br>
              <a:rPr lang="ru-RU" sz="1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ЛОКАЛЬНАЯ АЛГЕБРАИЧЕСКАЯ РЕГРЕССИЯ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/>
              <p:nvPr/>
            </p:nvSpPr>
            <p:spPr>
              <a:xfrm>
                <a:off x="653794" y="977967"/>
                <a:ext cx="10918789" cy="5759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Шаг 3. Аналитический метод наименьших квадратов (МНК)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В локальной системе координат задача сводится к классической полиномиальной регрессии второго порядка: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𝐵𝑢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Для нахождения вектора коэффициентов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</m:d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формируется матрица признаков X, столбцами которой являются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и вектор единиц. Система нормальных уравнений решается аналитически через </a:t>
                </a:r>
                <a:r>
                  <a:rPr lang="ru-RU" sz="18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псевдообратную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матрицу: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Этот метод вычислительно эффективен, однако минимизирует лишь алгебраическую ошибку (отклонение строго вдоль оси v), а не геометрическую.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b="1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Шаг 4. Перераспределение точек.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После того как параметры N парабол вычислены, вычисляется матрица расстояний от каждой точки исходного контура до каждой построенной параболы. Точка переназначается тому сегменту (параболе), геометрическое расстояние до которого минимально. После обновления принадлежности точек контура, Шаги 2 и 3 повторяются. Этот итеративный процесс продолжается до тех пор, пока среднеквадратичная ошибка (MSE) не стабилизируется, что свидетельствует о достижении локального оптимума кластеризации.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4" y="977967"/>
                <a:ext cx="10918789" cy="5759462"/>
              </a:xfrm>
              <a:prstGeom prst="rect">
                <a:avLst/>
              </a:prstGeom>
              <a:blipFill>
                <a:blip r:embed="rId6"/>
                <a:stretch>
                  <a:fillRect l="-447" r="-503" b="-6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071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НЕЛИНЕЙНАЯ ГЕОМЕТРИЧЕСКАЯ ОПТИМИЗАЦИЯ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/>
              <p:nvPr/>
            </p:nvSpPr>
            <p:spPr>
              <a:xfrm>
                <a:off x="653794" y="977967"/>
                <a:ext cx="10918789" cy="4579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Алгебраический расчет (МНК), применяемый на этапе сегментации, позволяет быстро найти начальное положение парабол. Однако этот метод минимизирует отклонение точек только вдоль одной оси, что дает заметную погрешность на участках с высокой кривизной.</a:t>
                </a:r>
                <a:endParaRPr lang="ru-RU" sz="14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Для максимально точного восстановления контура необходимо минимизировать реальное геометрическое расстояние – то есть кратчайший путь от каждой точки исходного контура до построенной параболы.</a:t>
                </a:r>
                <a:endParaRPr lang="ru-RU" sz="14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Общая ошибка сегмента вычисляется как сумма квадратов этих кратчайших расстояний:</a:t>
                </a:r>
                <a:endParaRPr lang="ru-RU" sz="14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ru-RU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ru-RU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ru-RU" sz="14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4" y="977967"/>
                <a:ext cx="10918789" cy="4579587"/>
              </a:xfrm>
              <a:prstGeom prst="rect">
                <a:avLst/>
              </a:prstGeom>
              <a:blipFill>
                <a:blip r:embed="rId6"/>
                <a:stretch>
                  <a:fillRect l="-447" r="-5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908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НЕЛИНЕЙНАЯ ГЕОМЕТРИЧЕСКАЯ ОПТИМИЗАЦИЯ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/>
              <p:nvPr/>
            </p:nvSpPr>
            <p:spPr>
              <a:xfrm>
                <a:off x="653794" y="977967"/>
                <a:ext cx="10918789" cy="3065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800"/>
                  </a:spcAft>
                  <a:tabLst>
                    <a:tab pos="5850890" algn="l"/>
                  </a:tabLst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Алгоритм оптимизирует 6 параметров параболы: коэффициенты формы (A, B, C), координаты центра (</a:t>
                </a:r>
                <a:r>
                  <a:rPr lang="ru-RU" sz="18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cx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ru-RU" sz="18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cy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 и угол наклона (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). На каждом шаге программа выполняет следующие действия: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Вычисление ошибки: измеряется текущее расстояние от точек до кривой.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Оценка направления (градиент): каждый из 6 параметров по очереди изменяется на малую величину </a:t>
                </a:r>
                <a:br>
                  <a:rPr lang="ru-RU" dirty="0"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Алгоритм проверяет, как это изменение повлияло на итоговую ошибку – уменьшилась она или увеличилась.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Обновление параметров: значения параметров сдвигаются в ту сторону, где ошибка становится меньше.</a:t>
                </a:r>
                <a:endParaRPr lang="ru-RU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A0C3F67-96BE-2DE9-C44C-E24A878CF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4" y="977967"/>
                <a:ext cx="10918789" cy="3065904"/>
              </a:xfrm>
              <a:prstGeom prst="rect">
                <a:avLst/>
              </a:prstGeom>
              <a:blipFill>
                <a:blip r:embed="rId6"/>
                <a:stretch>
                  <a:fillRect l="-447" r="-503" b="-1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2533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D68FC9-DCBC-515C-CDA1-381DB4B64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702" y="1485758"/>
            <a:ext cx="11098308" cy="388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93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A1BD6E-AC99-7495-CD1A-5ECDEE47E9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91" y="1409621"/>
            <a:ext cx="10928500" cy="388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72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890F08-B16E-FDB5-7C1C-B3FD03E141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05" y="1517774"/>
            <a:ext cx="10918789" cy="382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12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CCB531-0BDF-EBB0-29C8-6A15B1DD51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767" y="1575378"/>
            <a:ext cx="10586465" cy="370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B2DF2B-DF20-E621-EA3B-D69814F77E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06" y="1501534"/>
            <a:ext cx="10597379" cy="385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97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ED10E0-F9C0-4BE3-BEB8-6A697D540F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365" y="1555371"/>
            <a:ext cx="10707269" cy="374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05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F4C2-89C1-DFC0-89A9-DFD13821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22FD19-C042-2825-6DDC-5E878063D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088" y="212531"/>
          <a:ext cx="1283495" cy="446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7C22FD19-C042-2825-6DDC-5E878063D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088" y="212531"/>
                        <a:ext cx="1283495" cy="446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863AD06-45F8-FE22-F687-FEBB7C4FEF34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E509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7D5498-2F1C-374C-91C3-60710605B3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4" y="228172"/>
            <a:ext cx="1079310" cy="463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8F97B-ADAA-EA45-D373-B7075349ED3C}"/>
              </a:ext>
            </a:extLst>
          </p:cNvPr>
          <p:cNvSpPr txBox="1"/>
          <p:nvPr/>
        </p:nvSpPr>
        <p:spPr>
          <a:xfrm>
            <a:off x="551702" y="193485"/>
            <a:ext cx="10918789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C3F67-96BE-2DE9-C44C-E24A878CF097}"/>
              </a:ext>
            </a:extLst>
          </p:cNvPr>
          <p:cNvSpPr txBox="1"/>
          <p:nvPr/>
        </p:nvSpPr>
        <p:spPr>
          <a:xfrm>
            <a:off x="653794" y="977967"/>
            <a:ext cx="10918789" cy="1501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585089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Разработан независимый математический аппарат для декомпозиции сложных форм.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585089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Алгоритм успешно находит скрытую структуру объекта без ручной разметки.</a:t>
            </a:r>
          </a:p>
          <a:p>
            <a:pPr indent="450215" algn="just">
              <a:lnSpc>
                <a:spcPct val="150000"/>
              </a:lnSpc>
              <a:spcAft>
                <a:spcPts val="800"/>
              </a:spcAft>
              <a:tabLst>
                <a:tab pos="585089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Перспективы: Внедрение штрафов за разрывы и самопересечения кривых.</a:t>
            </a:r>
            <a:endParaRPr lang="ru-R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140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3914</TotalTime>
  <Words>972</Words>
  <Application>Microsoft Office PowerPoint</Application>
  <PresentationFormat>Широкоэкранный</PresentationFormat>
  <Paragraphs>80</Paragraphs>
  <Slides>16</Slides>
  <Notes>16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Cambria Math</vt:lpstr>
      <vt:lpstr>Times New Roman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Jmyh Pojiloy</cp:lastModifiedBy>
  <cp:revision>179</cp:revision>
  <dcterms:created xsi:type="dcterms:W3CDTF">2019-05-31T06:38:44Z</dcterms:created>
  <dcterms:modified xsi:type="dcterms:W3CDTF">2026-03-26T18:51:00Z</dcterms:modified>
</cp:coreProperties>
</file>